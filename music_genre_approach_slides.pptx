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notebook: demo_2.ipynb (overall structure and configuration; cells 0, 3, 6, 7, 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notebook: demo_2.ipynb (dataset paths, label names, split sizes, and AI metadata mapping; cells 3, 7, 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notebook: demo_2.ipynb (feature extraction parameters and CNN definition; cells 3 and 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notebook: demo_2.ipynb (evaluation metrics, confusion matrices, and majority-vote track aggregation; cells 7 and 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notebook: demo_2.ipynb (current split counts from output in cell 7; metric placeholders correspond to print statements in cells 7 and 8).
- Note: the uploaded notebook snapshot ends before final numeric results are shown, so this slide is intentionally left with fill-in placeholders.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notebook: demo_2.ipynb (AI label mapping and track-level majority vote; cell 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3825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DS340 · AI vs Human Music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"/>
            <a:ext cx="12191695" cy="6620256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109728"/>
            <a:ext cx="4142232" cy="6620256"/>
          </a:xfrm>
          <a:prstGeom prst="rect">
            <a:avLst/>
          </a:prstGeom>
          <a:solidFill>
            <a:srgbClr val="12203A">
              <a:alpha val="95000"/>
            </a:srgbClr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9728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4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Dataset, methodology, evaluation, and results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3232" y="24871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7D2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our pipeline trains on human music and then tests genre transfer to AI-generated tracks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183880" y="1691640"/>
            <a:ext cx="2971800" cy="0"/>
          </a:xfrm>
          <a:prstGeom prst="line">
            <a:avLst/>
          </a:prstGeom>
          <a:noFill/>
          <a:ln w="20320">
            <a:solidFill>
              <a:srgbClr val="35506E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183880" y="3154680"/>
            <a:ext cx="2971800" cy="0"/>
          </a:xfrm>
          <a:prstGeom prst="line">
            <a:avLst/>
          </a:prstGeom>
          <a:noFill/>
          <a:ln w="20320">
            <a:solidFill>
              <a:srgbClr val="35506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183880" y="1234440"/>
            <a:ext cx="2788920" cy="822960"/>
          </a:xfrm>
          <a:prstGeom prst="roundRect">
            <a:avLst>
              <a:gd name="adj" fmla="val 20000"/>
            </a:avLst>
          </a:prstGeom>
          <a:solidFill>
            <a:srgbClr val="16263D"/>
          </a:solidFill>
          <a:ln w="12700">
            <a:solidFill>
              <a:srgbClr val="2C436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183880" y="2697480"/>
            <a:ext cx="2788920" cy="822960"/>
          </a:xfrm>
          <a:prstGeom prst="roundRect">
            <a:avLst>
              <a:gd name="adj" fmla="val 20000"/>
            </a:avLst>
          </a:prstGeom>
          <a:solidFill>
            <a:srgbClr val="16263D"/>
          </a:solidFill>
          <a:ln w="12700">
            <a:solidFill>
              <a:srgbClr val="2C436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183880" y="4160520"/>
            <a:ext cx="2788920" cy="822960"/>
          </a:xfrm>
          <a:prstGeom prst="roundRect">
            <a:avLst>
              <a:gd name="adj" fmla="val 20000"/>
            </a:avLst>
          </a:prstGeom>
          <a:solidFill>
            <a:srgbClr val="16263D"/>
          </a:solidFill>
          <a:ln w="12700">
            <a:solidFill>
              <a:srgbClr val="2C436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94192" y="146304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3F4F6"/>
                </a:solidFill>
              </a:rPr>
              <a:t>Human GTZAN audio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66760" y="2926080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3F4F6"/>
                </a:solidFill>
              </a:rPr>
              <a:t>MFCC + CNN pipeline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394192" y="438912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3F4F6"/>
                </a:solidFill>
              </a:rPr>
              <a:t>AI Suno evaluation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" y="38862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arc for this section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9808" y="423367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160520"/>
            <a:ext cx="5047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data we use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9808" y="461772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544568"/>
            <a:ext cx="5047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features and the CNN are built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49808" y="500176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928616"/>
            <a:ext cx="5047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performance is measured on human and AI tracks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49808" y="5440680"/>
            <a:ext cx="1463040" cy="777240"/>
          </a:xfrm>
          <a:prstGeom prst="roundRect">
            <a:avLst>
              <a:gd name="adj" fmla="val 14118"/>
            </a:avLst>
          </a:prstGeom>
          <a:solidFill>
            <a:srgbClr val="132135"/>
          </a:solidFill>
          <a:ln w="15240">
            <a:solidFill>
              <a:srgbClr val="5EEA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5532120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GTZAN genres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96112" y="571500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F4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2331720" y="5440680"/>
            <a:ext cx="1463040" cy="777240"/>
          </a:xfrm>
          <a:prstGeom prst="roundRect">
            <a:avLst>
              <a:gd name="adj" fmla="val 14118"/>
            </a:avLst>
          </a:prstGeom>
          <a:solidFill>
            <a:srgbClr val="132135"/>
          </a:solidFill>
          <a:ln w="15240">
            <a:solidFill>
              <a:srgbClr val="60A5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78024" y="5532120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MFCC coeffs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478024" y="571500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F4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3913632" y="5440680"/>
            <a:ext cx="1737360" cy="777240"/>
          </a:xfrm>
          <a:prstGeom prst="roundRect">
            <a:avLst>
              <a:gd name="adj" fmla="val 14118"/>
            </a:avLst>
          </a:prstGeom>
          <a:solidFill>
            <a:srgbClr val="132135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59936" y="553212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Segments / song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059936" y="571500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F4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4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human training set and one AI evaluation set, both processed locally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532120" cy="4526280"/>
          </a:xfrm>
          <a:prstGeom prst="roundRect">
            <a:avLst>
              <a:gd name="adj" fmla="val 3636"/>
            </a:avLst>
          </a:prstGeom>
          <a:solidFill>
            <a:srgbClr val="132135"/>
          </a:solidFill>
          <a:ln w="12700">
            <a:solidFill>
              <a:srgbClr val="25415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63640" y="1325880"/>
            <a:ext cx="5376672" cy="4526280"/>
          </a:xfrm>
          <a:prstGeom prst="roundRect">
            <a:avLst>
              <a:gd name="adj" fmla="val 3636"/>
            </a:avLst>
          </a:prstGeom>
          <a:solidFill>
            <a:srgbClr val="132135"/>
          </a:solidFill>
          <a:ln w="12700">
            <a:solidFill>
              <a:srgbClr val="4F3B1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276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F4F6"/>
                </a:solidFill>
              </a:rPr>
              <a:t>GTZAN human music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41248" y="1901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Loaded from data/genres_original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41248" y="2340864"/>
            <a:ext cx="91440" cy="9144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267712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labels: blues, classical, country, disco, hiphop, jazz, metal, pop, reggae, rock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841248" y="2871216"/>
            <a:ext cx="91440" cy="9144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98064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file treated as 30 seconds at 22,050 Hz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841248" y="3401568"/>
            <a:ext cx="91440" cy="9144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328416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notebook run produced 4,993 usable MFCC segments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841248" y="3931920"/>
            <a:ext cx="91440" cy="9144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858768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sizes after preprocessing: 2,796 train · 699 val · 1,498 test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932688" y="4663440"/>
            <a:ext cx="2534644" cy="38404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67332" y="4663440"/>
            <a:ext cx="633661" cy="38404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00993" y="4663440"/>
            <a:ext cx="1357975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440740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</a:rPr>
              <a:t>MFCC segment split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32688" y="51023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Train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31720" y="51023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</a:rPr>
              <a:t>Val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10128" y="51023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Test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37960" y="16276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F4F6"/>
                </a:solidFill>
              </a:rPr>
              <a:t>Suno AI-generated music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556248" y="19019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Loaded from data/suno-audio batch_* folders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56248" y="234086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2267712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Metadata columns used: id, title, tags, prompt, duration, model_name, status</a:t>
            </a:r>
            <a:endParaRPr lang="en-US" sz="1520" dirty="0"/>
          </a:p>
        </p:txBody>
      </p:sp>
      <p:sp>
        <p:nvSpPr>
          <p:cNvPr id="27" name="Shape 25"/>
          <p:cNvSpPr/>
          <p:nvPr/>
        </p:nvSpPr>
        <p:spPr>
          <a:xfrm>
            <a:off x="6556248" y="287121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2798064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Tags are normalized and mapped to the same 10 GTZAN genres</a:t>
            </a:r>
            <a:endParaRPr lang="en-US" sz="1520" dirty="0"/>
          </a:p>
        </p:txBody>
      </p:sp>
      <p:sp>
        <p:nvSpPr>
          <p:cNvPr id="29" name="Shape 27"/>
          <p:cNvSpPr/>
          <p:nvPr/>
        </p:nvSpPr>
        <p:spPr>
          <a:xfrm>
            <a:off x="6556248" y="340156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3328416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STRICT_SINGLE_LABEL=True drops tracks with zero or multiple genre matches</a:t>
            </a:r>
            <a:endParaRPr lang="en-US" sz="1520" dirty="0"/>
          </a:p>
        </p:txBody>
      </p:sp>
      <p:sp>
        <p:nvSpPr>
          <p:cNvPr id="31" name="Shape 29"/>
          <p:cNvSpPr/>
          <p:nvPr/>
        </p:nvSpPr>
        <p:spPr>
          <a:xfrm>
            <a:off x="6556248" y="393192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3858768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MAX_AI_TRACKS_PER_GENRE = 30 keeps the mapped AI set balanced</a:t>
            </a:r>
            <a:endParaRPr lang="en-US" sz="1520" dirty="0"/>
          </a:p>
        </p:txBody>
      </p:sp>
      <p:sp>
        <p:nvSpPr>
          <p:cNvPr id="33" name="Text 31"/>
          <p:cNvSpPr/>
          <p:nvPr/>
        </p:nvSpPr>
        <p:spPr>
          <a:xfrm>
            <a:off x="841248" y="5532120"/>
            <a:ext cx="5074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One unreadable GTZAN file was skipped in the current run: jazz.00054.wav.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4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preprocessing pipeline converts both human and AI audio into CNN-ready MFCC tensors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395728" y="2240280"/>
            <a:ext cx="475488" cy="0"/>
          </a:xfrm>
          <a:prstGeom prst="line">
            <a:avLst/>
          </a:prstGeom>
          <a:noFill/>
          <a:ln w="19050">
            <a:solidFill>
              <a:srgbClr val="4B607A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882896" y="2240280"/>
            <a:ext cx="475488" cy="0"/>
          </a:xfrm>
          <a:prstGeom prst="line">
            <a:avLst/>
          </a:prstGeom>
          <a:noFill/>
          <a:ln w="19050">
            <a:solidFill>
              <a:srgbClr val="4B607A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406640" y="2240280"/>
            <a:ext cx="475488" cy="0"/>
          </a:xfrm>
          <a:prstGeom prst="line">
            <a:avLst/>
          </a:prstGeom>
          <a:noFill/>
          <a:ln w="19050">
            <a:solidFill>
              <a:srgbClr val="4B607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85800" y="1572768"/>
            <a:ext cx="1737360" cy="1325880"/>
          </a:xfrm>
          <a:prstGeom prst="roundRect">
            <a:avLst>
              <a:gd name="adj" fmla="val 12414"/>
            </a:avLst>
          </a:prstGeom>
          <a:solidFill>
            <a:srgbClr val="17263B"/>
          </a:solidFill>
          <a:ln w="12700">
            <a:solidFill>
              <a:srgbClr val="28456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852928" y="1572768"/>
            <a:ext cx="2029968" cy="1325880"/>
          </a:xfrm>
          <a:prstGeom prst="roundRect">
            <a:avLst>
              <a:gd name="adj" fmla="val 12414"/>
            </a:avLst>
          </a:prstGeom>
          <a:solidFill>
            <a:srgbClr val="17263B"/>
          </a:solidFill>
          <a:ln w="12700">
            <a:solidFill>
              <a:srgbClr val="28456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40096" y="1572768"/>
            <a:ext cx="2066544" cy="1325880"/>
          </a:xfrm>
          <a:prstGeom prst="roundRect">
            <a:avLst>
              <a:gd name="adj" fmla="val 12414"/>
            </a:avLst>
          </a:prstGeom>
          <a:solidFill>
            <a:srgbClr val="17263B"/>
          </a:solidFill>
          <a:ln w="12700">
            <a:solidFill>
              <a:srgbClr val="28456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82128" y="1572768"/>
            <a:ext cx="2880360" cy="1325880"/>
          </a:xfrm>
          <a:prstGeom prst="roundRect">
            <a:avLst>
              <a:gd name="adj" fmla="val 12414"/>
            </a:avLst>
          </a:prstGeom>
          <a:solidFill>
            <a:srgbClr val="17263B"/>
          </a:solidFill>
          <a:ln w="12700">
            <a:solidFill>
              <a:srgbClr val="28456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41832" y="1682496"/>
            <a:ext cx="1243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F4F6"/>
                </a:solidFill>
              </a:rPr>
              <a:t>30 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3F4F6"/>
                </a:solidFill>
              </a:rPr>
              <a:t>audio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2322576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94A3B8"/>
                </a:solidFill>
              </a:rPr>
              <a:t>sampled at 22,050 Hz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3090672" y="168249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F4F6"/>
                </a:solidFill>
              </a:rPr>
              <a:t>Split into 5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3F4F6"/>
                </a:solidFill>
              </a:rPr>
              <a:t>segments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17520" y="226771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94A3B8"/>
                </a:solidFill>
              </a:rPr>
              <a:t>equal-length windows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94A3B8"/>
                </a:solidFill>
              </a:rPr>
              <a:t>per song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5559552" y="1682496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F4F6"/>
                </a:solidFill>
              </a:rPr>
              <a:t>13 MFCCs /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3F4F6"/>
                </a:solidFill>
              </a:rPr>
              <a:t>segment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577840" y="232257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94A3B8"/>
                </a:solidFill>
              </a:rPr>
              <a:t>n_fft 2048 · hop 512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8321040" y="175564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F4F6"/>
                </a:solidFill>
              </a:rPr>
              <a:t>CNN classifier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0" y="202996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2FE"/>
                </a:solidFill>
              </a:rPr>
              <a:t>predicts one of 10 genres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47888" y="234086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94A3B8"/>
                </a:solidFill>
              </a:rPr>
              <a:t>input tensor ≈ 259 × 13 × 1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94944" y="3429000"/>
            <a:ext cx="3794760" cy="1993392"/>
          </a:xfrm>
          <a:prstGeom prst="roundRect">
            <a:avLst>
              <a:gd name="adj" fmla="val 8257"/>
            </a:avLst>
          </a:prstGeom>
          <a:solidFill>
            <a:srgbClr val="132135"/>
          </a:solidFill>
          <a:ln w="12700">
            <a:solidFill>
              <a:srgbClr val="28456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32688" y="36576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F4F6"/>
                </a:solidFill>
              </a:rPr>
              <a:t>Model architecture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932688" y="4114800"/>
            <a:ext cx="91440" cy="9144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4041648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2× Conv2D(32, 3×3) + MaxPool(3×3) + BatchNorm</a:t>
            </a:r>
            <a:endParaRPr lang="en-US" sz="1260" dirty="0"/>
          </a:p>
        </p:txBody>
      </p:sp>
      <p:sp>
        <p:nvSpPr>
          <p:cNvPr id="24" name="Shape 22"/>
          <p:cNvSpPr/>
          <p:nvPr/>
        </p:nvSpPr>
        <p:spPr>
          <a:xfrm>
            <a:off x="932688" y="4535424"/>
            <a:ext cx="91440" cy="9144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4462272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1× Conv2D(32, 2×2) + MaxPool(2×2) + BatchNorm</a:t>
            </a:r>
            <a:endParaRPr lang="en-US" sz="1260" dirty="0"/>
          </a:p>
        </p:txBody>
      </p:sp>
      <p:sp>
        <p:nvSpPr>
          <p:cNvPr id="26" name="Shape 24"/>
          <p:cNvSpPr/>
          <p:nvPr/>
        </p:nvSpPr>
        <p:spPr>
          <a:xfrm>
            <a:off x="932688" y="4956048"/>
            <a:ext cx="91440" cy="9144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4882896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Flatten → Dense(64) → Dropout(0.3) → Softmax(10)</a:t>
            </a:r>
            <a:endParaRPr lang="en-US" sz="1260" dirty="0"/>
          </a:p>
        </p:txBody>
      </p:sp>
      <p:sp>
        <p:nvSpPr>
          <p:cNvPr id="28" name="Shape 26"/>
          <p:cNvSpPr/>
          <p:nvPr/>
        </p:nvSpPr>
        <p:spPr>
          <a:xfrm>
            <a:off x="4709160" y="3429000"/>
            <a:ext cx="6355080" cy="1993392"/>
          </a:xfrm>
          <a:prstGeom prst="roundRect">
            <a:avLst>
              <a:gd name="adj" fmla="val 8257"/>
            </a:avLst>
          </a:prstGeom>
          <a:solidFill>
            <a:srgbClr val="132135"/>
          </a:solidFill>
          <a:ln w="12700">
            <a:solidFill>
              <a:srgbClr val="28456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56048" y="36576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F4F6"/>
                </a:solidFill>
              </a:rPr>
              <a:t>Training setup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4956048" y="4096512"/>
            <a:ext cx="1234440" cy="749808"/>
          </a:xfrm>
          <a:prstGeom prst="roundRect">
            <a:avLst>
              <a:gd name="adj" fmla="val 14634"/>
            </a:avLst>
          </a:prstGeom>
          <a:solidFill>
            <a:srgbClr val="132135"/>
          </a:solidFill>
          <a:ln w="15240">
            <a:solidFill>
              <a:srgbClr val="60A5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02352" y="4187952"/>
            <a:ext cx="941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102352" y="4370832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F4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Adam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6400800" y="4096512"/>
            <a:ext cx="1234440" cy="749808"/>
          </a:xfrm>
          <a:prstGeom prst="roundRect">
            <a:avLst>
              <a:gd name="adj" fmla="val 14634"/>
            </a:avLst>
          </a:prstGeom>
          <a:solidFill>
            <a:srgbClr val="132135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47104" y="4187952"/>
            <a:ext cx="941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547104" y="4370832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F4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1e-4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7845552" y="4096512"/>
            <a:ext cx="1234440" cy="749808"/>
          </a:xfrm>
          <a:prstGeom prst="roundRect">
            <a:avLst>
              <a:gd name="adj" fmla="val 14634"/>
            </a:avLst>
          </a:prstGeom>
          <a:solidFill>
            <a:srgbClr val="132135"/>
          </a:solidFill>
          <a:ln w="15240">
            <a:solidFill>
              <a:srgbClr val="60A5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91856" y="4187952"/>
            <a:ext cx="941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Epochs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991856" y="4370832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F4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9290304" y="4096512"/>
            <a:ext cx="1234440" cy="749808"/>
          </a:xfrm>
          <a:prstGeom prst="roundRect">
            <a:avLst>
              <a:gd name="adj" fmla="val 14634"/>
            </a:avLst>
          </a:prstGeom>
          <a:solidFill>
            <a:srgbClr val="132135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436608" y="4187952"/>
            <a:ext cx="941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436608" y="4370832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F4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4983480" y="5074920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Loss: sparse categorical cross-entropy   ·   Output: 10-way softmax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4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methods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is judged twice: first on held-out human music, then on mapped AI-generated music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40680" y="2267712"/>
            <a:ext cx="1005840" cy="0"/>
          </a:xfrm>
          <a:prstGeom prst="line">
            <a:avLst/>
          </a:prstGeom>
          <a:noFill/>
          <a:ln w="20320">
            <a:solidFill>
              <a:srgbClr val="49607A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440680" y="4041648"/>
            <a:ext cx="1005840" cy="0"/>
          </a:xfrm>
          <a:prstGeom prst="line">
            <a:avLst/>
          </a:prstGeom>
          <a:noFill/>
          <a:ln w="20320">
            <a:solidFill>
              <a:srgbClr val="49607A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412480" y="5166360"/>
            <a:ext cx="1234440" cy="0"/>
          </a:xfrm>
          <a:prstGeom prst="line">
            <a:avLst/>
          </a:prstGeom>
          <a:noFill/>
          <a:ln w="17780">
            <a:solidFill>
              <a:srgbClr val="49607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870448" y="1627632"/>
            <a:ext cx="0" cy="3703320"/>
          </a:xfrm>
          <a:prstGeom prst="line">
            <a:avLst/>
          </a:prstGeom>
          <a:noFill/>
          <a:ln w="15240">
            <a:solidFill>
              <a:srgbClr val="2D415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163824"/>
            <a:ext cx="4617720" cy="0"/>
          </a:xfrm>
          <a:prstGeom prst="line">
            <a:avLst/>
          </a:prstGeom>
          <a:noFill/>
          <a:ln w="12700">
            <a:solidFill>
              <a:srgbClr val="2D415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65392" y="3090672"/>
            <a:ext cx="4663440" cy="0"/>
          </a:xfrm>
          <a:prstGeom prst="line">
            <a:avLst/>
          </a:prstGeom>
          <a:noFill/>
          <a:ln w="12700">
            <a:solidFill>
              <a:srgbClr val="2D41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77393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4F6"/>
                </a:solidFill>
              </a:rPr>
              <a:t>Stage 1 · GTZAN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3F4F6"/>
                </a:solidFill>
              </a:rPr>
              <a:t>benchmark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96112" y="2414016"/>
            <a:ext cx="91440" cy="9144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2340864"/>
            <a:ext cx="3995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on GTZAN train split and tune on validation split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896112" y="2715768"/>
            <a:ext cx="91440" cy="9144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2642616"/>
            <a:ext cx="3995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on held-out GTZAN test split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896112" y="3017520"/>
            <a:ext cx="91440" cy="9144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704" y="2944368"/>
            <a:ext cx="3995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accuracy, classification report, and confusion matrix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896112" y="351129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4F6"/>
                </a:solidFill>
              </a:rPr>
              <a:t>Stage 2 · AI transfer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3F4F6"/>
                </a:solidFill>
              </a:rPr>
              <a:t>evaluation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96112" y="415137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0704" y="4078224"/>
            <a:ext cx="3995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Suno metadata tags to one GTZAN genre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896112" y="445312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4379976"/>
            <a:ext cx="3995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the trained GTZAN model on every AI segment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896112" y="475488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0704" y="4681728"/>
            <a:ext cx="3995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whether human-trained genre boundaries transfer to AI songs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6675120" y="1783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4F6"/>
                </a:solidFill>
              </a:rPr>
              <a:t>Segment-level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3F4F6"/>
                </a:solidFill>
              </a:rPr>
              <a:t>metrics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675120" y="2395728"/>
            <a:ext cx="91440" cy="9144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39712" y="2322576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on all AI MFCC segments</a:t>
            </a:r>
            <a:endParaRPr lang="en-US" sz="1280" dirty="0"/>
          </a:p>
        </p:txBody>
      </p:sp>
      <p:sp>
        <p:nvSpPr>
          <p:cNvPr id="27" name="Shape 25"/>
          <p:cNvSpPr/>
          <p:nvPr/>
        </p:nvSpPr>
        <p:spPr>
          <a:xfrm>
            <a:off x="6675120" y="2715768"/>
            <a:ext cx="91440" cy="9144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39712" y="2642616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 F1 to weight each genre equally</a:t>
            </a:r>
            <a:endParaRPr lang="en-US" sz="1280" dirty="0"/>
          </a:p>
        </p:txBody>
      </p:sp>
      <p:sp>
        <p:nvSpPr>
          <p:cNvPr id="29" name="Shape 27"/>
          <p:cNvSpPr/>
          <p:nvPr/>
        </p:nvSpPr>
        <p:spPr>
          <a:xfrm>
            <a:off x="6675120" y="3035808"/>
            <a:ext cx="91440" cy="9144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39712" y="2962656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 report + confusion matrix</a:t>
            </a:r>
            <a:endParaRPr lang="en-US" sz="1280" dirty="0"/>
          </a:p>
        </p:txBody>
      </p:sp>
      <p:sp>
        <p:nvSpPr>
          <p:cNvPr id="31" name="Text 29"/>
          <p:cNvSpPr/>
          <p:nvPr/>
        </p:nvSpPr>
        <p:spPr>
          <a:xfrm>
            <a:off x="6675120" y="34015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4F6"/>
                </a:solidFill>
              </a:rPr>
              <a:t>Track-level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3F4F6"/>
                </a:solidFill>
              </a:rPr>
              <a:t>metrics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675120" y="391363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Majority vote over predicted segments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20840" y="4224528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203E5E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39128" y="4334256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3F4F6"/>
                </a:solidFill>
              </a:rPr>
              <a:t>seg 1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269480" y="4224528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203E5E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87768" y="4334256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3F4F6"/>
                </a:solidFill>
              </a:rPr>
              <a:t>seg 2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818120" y="4224528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203E5E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36408" y="4334256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3F4F6"/>
                </a:solidFill>
              </a:rPr>
              <a:t>seg 3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366760" y="4224528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3B2A1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85048" y="4334256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3F4F6"/>
                </a:solidFill>
              </a:rPr>
              <a:t>seg 4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915400" y="4224528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3B2A1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33688" y="4334256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3F4F6"/>
                </a:solidFill>
              </a:rPr>
              <a:t>seg 5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9738360" y="4096512"/>
            <a:ext cx="1325880" cy="566928"/>
          </a:xfrm>
          <a:prstGeom prst="roundRect">
            <a:avLst>
              <a:gd name="adj" fmla="val 16129"/>
            </a:avLst>
          </a:prstGeom>
          <a:solidFill>
            <a:srgbClr val="17344C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921240" y="430682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4F6"/>
                </a:solidFill>
              </a:rPr>
              <a:t>track label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675120" y="495604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dirty="0">
                <a:solidFill>
                  <a:srgbClr val="CBD5E1"/>
                </a:solidFill>
              </a:rPr>
              <a:t>Final report: track-level accuracy and track-level macro F1</a:t>
            </a:r>
            <a:endParaRPr lang="en-US" sz="1170" dirty="0"/>
          </a:p>
        </p:txBody>
      </p:sp>
      <p:sp>
        <p:nvSpPr>
          <p:cNvPr id="46" name="Text 44"/>
          <p:cNvSpPr/>
          <p:nvPr/>
        </p:nvSpPr>
        <p:spPr>
          <a:xfrm>
            <a:off x="896112" y="550468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59E0B"/>
                </a:solidFill>
              </a:rPr>
              <a:t>Why macro F1? </a:t>
            </a:r>
            <a:pPr indent="0" marL="0">
              <a:buNone/>
            </a:pPr>
            <a:r>
              <a:rPr lang="en-US" sz="1080" dirty="0">
                <a:solidFill>
                  <a:srgbClr val="94A3B8"/>
                </a:solidFill>
              </a:rPr>
              <a:t>It prevents frequent genres from dominating the score when mapped AI counts differ by class.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4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 slide template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uploaded notebook snapshot shows preprocessing outputs, but the final metric values need to be filled from a successful rerun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3977640" cy="4526280"/>
          </a:xfrm>
          <a:prstGeom prst="roundRect">
            <a:avLst>
              <a:gd name="adj" fmla="val 4138"/>
            </a:avLst>
          </a:prstGeom>
          <a:solidFill>
            <a:srgbClr val="132135"/>
          </a:solidFill>
          <a:ln w="12700">
            <a:solidFill>
              <a:srgbClr val="28456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92040" y="1554480"/>
            <a:ext cx="6629400" cy="4526280"/>
          </a:xfrm>
          <a:prstGeom prst="roundRect">
            <a:avLst>
              <a:gd name="adj" fmla="val 3636"/>
            </a:avLst>
          </a:prstGeom>
          <a:solidFill>
            <a:srgbClr val="132135"/>
          </a:solidFill>
          <a:ln w="12700">
            <a:solidFill>
              <a:srgbClr val="28456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32688" y="177393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4F6"/>
                </a:solidFill>
              </a:rPr>
              <a:t>What the current run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3F4F6"/>
                </a:solidFill>
              </a:rPr>
              <a:t>already shows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32688" y="2414016"/>
            <a:ext cx="91440" cy="9144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34086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GTZAN label order was loaded correctly for 10 genres</a:t>
            </a:r>
            <a:endParaRPr lang="en-US" sz="1340" dirty="0"/>
          </a:p>
        </p:txBody>
      </p:sp>
      <p:sp>
        <p:nvSpPr>
          <p:cNvPr id="9" name="Shape 7"/>
          <p:cNvSpPr/>
          <p:nvPr/>
        </p:nvSpPr>
        <p:spPr>
          <a:xfrm>
            <a:off x="932688" y="2816352"/>
            <a:ext cx="91440" cy="9144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743200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4,993 total MFCC segments were created after preprocessing</a:t>
            </a:r>
            <a:endParaRPr lang="en-US" sz="1340" dirty="0"/>
          </a:p>
        </p:txBody>
      </p:sp>
      <p:sp>
        <p:nvSpPr>
          <p:cNvPr id="11" name="Shape 9"/>
          <p:cNvSpPr/>
          <p:nvPr/>
        </p:nvSpPr>
        <p:spPr>
          <a:xfrm>
            <a:off x="932688" y="3218688"/>
            <a:ext cx="91440" cy="9144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145536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/ val / test sizes are 2,796 / 699 / 1,498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932688" y="3621024"/>
            <a:ext cx="91440" cy="9144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54787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unreadable GTZAN file was skipped during feature extraction</a:t>
            </a:r>
            <a:endParaRPr lang="en-US" sz="1340" dirty="0"/>
          </a:p>
        </p:txBody>
      </p:sp>
      <p:sp>
        <p:nvSpPr>
          <p:cNvPr id="15" name="Shape 13"/>
          <p:cNvSpPr/>
          <p:nvPr/>
        </p:nvSpPr>
        <p:spPr>
          <a:xfrm>
            <a:off x="1024128" y="4279392"/>
            <a:ext cx="1459341" cy="20116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83469" y="4279392"/>
            <a:ext cx="364835" cy="20116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48304" y="4279392"/>
            <a:ext cx="781864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40233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</a:rPr>
              <a:t>Prepared-data snapshot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93792" y="18105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F4F6"/>
                </a:solidFill>
              </a:rPr>
              <a:t>Fill these boxes with your final numbers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5230368" y="2240280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132135"/>
          </a:solidFill>
          <a:ln w="15240">
            <a:solidFill>
              <a:srgbClr val="5EEA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76672" y="2331720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GTZAN test accuracy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76672" y="251460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F4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___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7287768" y="2240280"/>
            <a:ext cx="1691640" cy="868680"/>
          </a:xfrm>
          <a:prstGeom prst="roundRect">
            <a:avLst>
              <a:gd name="adj" fmla="val 12632"/>
            </a:avLst>
          </a:prstGeom>
          <a:solidFill>
            <a:srgbClr val="132135"/>
          </a:solidFill>
          <a:ln w="15240">
            <a:solidFill>
              <a:srgbClr val="60A5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34072" y="2331720"/>
            <a:ext cx="1399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segment acc.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434072" y="251460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F4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___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9116568" y="2240280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132135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62872" y="2331720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segment macro F1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262872" y="251460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F4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___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5230368" y="3383280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132135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76672" y="3474720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track acc.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376672" y="365760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F4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___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7287768" y="3383280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132135"/>
          </a:solidFill>
          <a:ln w="15240">
            <a:solidFill>
              <a:srgbClr val="FB718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34072" y="3474720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track macro F1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434072" y="365760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F4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___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5230368" y="461772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59E0B"/>
                </a:solidFill>
              </a:rPr>
              <a:t>Recommended one-line interpretation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5230368" y="486460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10" i="1" dirty="0">
                <a:solidFill>
                  <a:srgbClr val="E2E8F0"/>
                </a:solidFill>
              </a:rPr>
              <a:t>“The model performs well on held-out human music, then we compare how much that accuracy drops when the same genre boundaries are applied to AI-generated tracks.”</a:t>
            </a:r>
            <a:endParaRPr lang="en-US" sz="1410" dirty="0"/>
          </a:p>
        </p:txBody>
      </p:sp>
      <p:sp>
        <p:nvSpPr>
          <p:cNvPr id="37" name="Text 35"/>
          <p:cNvSpPr/>
          <p:nvPr/>
        </p:nvSpPr>
        <p:spPr>
          <a:xfrm>
            <a:off x="5230368" y="5504688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4A3B8"/>
                </a:solidFill>
              </a:rPr>
              <a:t>If you rerun the final cells, replace the blanks with: GTZAN accuracy, AI segment accuracy / macro F1, and AI track accuracy / macro F1.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4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frame the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experiment measures transfer from human-labeled genres to AI-generated tracks, not absolute musical truth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572768"/>
            <a:ext cx="10972800" cy="4389120"/>
          </a:xfrm>
          <a:prstGeom prst="roundRect">
            <a:avLst>
              <a:gd name="adj" fmla="val 3750"/>
            </a:avLst>
          </a:prstGeom>
          <a:solidFill>
            <a:srgbClr val="132135"/>
          </a:solidFill>
          <a:ln w="12700">
            <a:solidFill>
              <a:srgbClr val="28456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8745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F4F6"/>
                </a:solidFill>
              </a:rPr>
              <a:t>Key interpretation points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24128" y="2359152"/>
            <a:ext cx="91440" cy="9144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286000"/>
            <a:ext cx="5138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GTZAN provides the supervised genre labels used to train the CNN.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24128" y="2798064"/>
            <a:ext cx="91440" cy="9144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724912"/>
            <a:ext cx="5138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“ground truth” is inferred from Suno metadata tags, not from manual listening labels.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24128" y="3236976"/>
            <a:ext cx="91440" cy="9144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163824"/>
            <a:ext cx="5138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the main question is whether a human-trained genre classifier agrees with the AI track metadata.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24128" y="3675888"/>
            <a:ext cx="91440" cy="9144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3602736"/>
            <a:ext cx="5138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Majority voting at the track level reduces noisy segment predictions and makes the final comparison more stable.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12280" y="2697480"/>
            <a:ext cx="2971800" cy="0"/>
          </a:xfrm>
          <a:prstGeom prst="line">
            <a:avLst/>
          </a:prstGeom>
          <a:noFill/>
          <a:ln w="19050">
            <a:solidFill>
              <a:srgbClr val="49607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812280" y="4206240"/>
            <a:ext cx="2971800" cy="0"/>
          </a:xfrm>
          <a:prstGeom prst="line">
            <a:avLst/>
          </a:prstGeom>
          <a:noFill/>
          <a:ln w="19050">
            <a:solidFill>
              <a:srgbClr val="49607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2148840"/>
            <a:ext cx="2423160" cy="1051560"/>
          </a:xfrm>
          <a:prstGeom prst="roundRect">
            <a:avLst>
              <a:gd name="adj" fmla="val 15652"/>
            </a:avLst>
          </a:prstGeom>
          <a:solidFill>
            <a:srgbClr val="16263D"/>
          </a:solidFill>
          <a:ln w="12700">
            <a:solidFill>
              <a:srgbClr val="2C436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829800" y="2148840"/>
            <a:ext cx="1417320" cy="1051560"/>
          </a:xfrm>
          <a:prstGeom prst="roundRect">
            <a:avLst>
              <a:gd name="adj" fmla="val 15652"/>
            </a:avLst>
          </a:prstGeom>
          <a:solidFill>
            <a:srgbClr val="17344C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49440" y="24414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F4F6"/>
                </a:solidFill>
              </a:rPr>
              <a:t>Human music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3F4F6"/>
                </a:solidFill>
              </a:rPr>
              <a:t>training signal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12680" y="256032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F4F6"/>
                </a:solidFill>
              </a:rPr>
              <a:t>reference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629400" y="3657600"/>
            <a:ext cx="2423160" cy="1051560"/>
          </a:xfrm>
          <a:prstGeom prst="roundRect">
            <a:avLst>
              <a:gd name="adj" fmla="val 15652"/>
            </a:avLst>
          </a:prstGeom>
          <a:solidFill>
            <a:srgbClr val="16263D"/>
          </a:solidFill>
          <a:ln w="12700">
            <a:solidFill>
              <a:srgbClr val="2C436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829800" y="3657600"/>
            <a:ext cx="1417320" cy="1051560"/>
          </a:xfrm>
          <a:prstGeom prst="roundRect">
            <a:avLst>
              <a:gd name="adj" fmla="val 15652"/>
            </a:avLst>
          </a:prstGeom>
          <a:solidFill>
            <a:srgbClr val="3A2814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49440" y="395020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F4F6"/>
                </a:solidFill>
              </a:rPr>
              <a:t>AI music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3F4F6"/>
                </a:solidFill>
              </a:rPr>
              <a:t>evaluation signal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012680" y="406908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F4F6"/>
                </a:solidFill>
              </a:rPr>
              <a:t>transfer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24128" y="5257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Good closing sentence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06040" y="52303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i="1" dirty="0">
                <a:solidFill>
                  <a:srgbClr val="E2E8F0"/>
                </a:solidFill>
              </a:rPr>
              <a:t>“Our pipeline keeps the representation fixed, so any drop from GTZAN to Suno reflects how well human genre categories carry over to AI-generated music.”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Dataset, Methodology, Evaluation, and Results</dc:title>
  <dc:subject>Music genre classification project approach</dc:subject>
  <dc:creator>OpenAI</dc:creator>
  <cp:lastModifiedBy>OpenAI</cp:lastModifiedBy>
  <cp:revision>1</cp:revision>
  <dcterms:created xsi:type="dcterms:W3CDTF">2026-03-22T21:09:07Z</dcterms:created>
  <dcterms:modified xsi:type="dcterms:W3CDTF">2026-03-22T21:09:07Z</dcterms:modified>
</cp:coreProperties>
</file>